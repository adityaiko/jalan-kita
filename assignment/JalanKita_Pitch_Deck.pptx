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2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PITCH STARTUP · UAS INOVASI &amp; ENTREPRENEUR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🛣️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417320" y="1325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7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JalanKita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2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Dari foto, menjadi perbaikan.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9BE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Platform pelaporan infrastruktur jalan berbasis AI — mendeteksi kerusakan dan menghitung anggaran perbaikan secara otomatis, transparan, dan partisipatif.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AB9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[Nama Anda] · Master Kecerdasan Artifisial, FMIPA UGM ·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0" name="Shape 8"/>
          <p:cNvSpPr/>
          <p:nvPr/>
        </p:nvSpPr>
        <p:spPr>
          <a:xfrm>
            <a:off x="1810512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1" name="Shape 9"/>
          <p:cNvSpPr/>
          <p:nvPr/>
        </p:nvSpPr>
        <p:spPr>
          <a:xfrm>
            <a:off x="2432304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2" name="Shape 10"/>
          <p:cNvSpPr/>
          <p:nvPr/>
        </p:nvSpPr>
        <p:spPr>
          <a:xfrm>
            <a:off x="3054096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919472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6" name="Shape 14"/>
          <p:cNvSpPr/>
          <p:nvPr/>
        </p:nvSpPr>
        <p:spPr>
          <a:xfrm>
            <a:off x="5541264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7" name="Shape 15"/>
          <p:cNvSpPr/>
          <p:nvPr/>
        </p:nvSpPr>
        <p:spPr>
          <a:xfrm>
            <a:off x="6163056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8" name="Shape 16"/>
          <p:cNvSpPr/>
          <p:nvPr/>
        </p:nvSpPr>
        <p:spPr>
          <a:xfrm>
            <a:off x="6784848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9" name="Shape 17"/>
          <p:cNvSpPr/>
          <p:nvPr/>
        </p:nvSpPr>
        <p:spPr>
          <a:xfrm>
            <a:off x="7406640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0" name="Shape 18"/>
          <p:cNvSpPr/>
          <p:nvPr/>
        </p:nvSpPr>
        <p:spPr>
          <a:xfrm>
            <a:off x="8028432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50224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2" name="Shape 20"/>
          <p:cNvSpPr/>
          <p:nvPr/>
        </p:nvSpPr>
        <p:spPr>
          <a:xfrm>
            <a:off x="9272016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3" name="Shape 21"/>
          <p:cNvSpPr/>
          <p:nvPr/>
        </p:nvSpPr>
        <p:spPr>
          <a:xfrm>
            <a:off x="9893808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0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37392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759184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— MASALAH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 rusak mahal. Birokrasinya lebih mahal.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3474720" cy="2651760"/>
          </a:xfrm>
          <a:prstGeom prst="roundRect">
            <a:avLst>
              <a:gd name="adj" fmla="val 4828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  <a:effectLst>
            <a:outerShdw sx="100000" sy="100000" kx="0" ky="0" algn="bl" rotWithShape="0" blurRad="152400" dist="50800" dir="5400000">
              <a:srgbClr val="241F1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331720"/>
            <a:ext cx="603504" cy="603504"/>
          </a:xfrm>
          <a:prstGeom prst="ellipse">
            <a:avLst/>
          </a:prstGeom>
          <a:solidFill>
            <a:srgbClr val="FBEAE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3317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🚧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9536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Bahaya &amp; rugi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35204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Ribuan kecelakaan dan kerusakan kendaraan tiap tahun akibat jalan rusak.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88536" y="2011680"/>
            <a:ext cx="3474720" cy="2651760"/>
          </a:xfrm>
          <a:prstGeom prst="roundRect">
            <a:avLst>
              <a:gd name="adj" fmla="val 4828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  <a:effectLst>
            <a:outerShdw sx="100000" sy="100000" kx="0" ky="0" algn="bl" rotWithShape="0" blurRad="152400" dist="50800" dir="5400000">
              <a:srgbClr val="241F1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2331720"/>
            <a:ext cx="603504" cy="603504"/>
          </a:xfrm>
          <a:prstGeom prst="ellipse">
            <a:avLst/>
          </a:prstGeom>
          <a:solidFill>
            <a:srgbClr val="FBEAE7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3317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81144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Laporan menumpuk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81144" y="35204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Pengaduan masuk tanpa klasifikasi, tenggelam, dan sering tak ditindaklanjuti.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10144" y="2011680"/>
            <a:ext cx="3474720" cy="2651760"/>
          </a:xfrm>
          <a:prstGeom prst="roundRect">
            <a:avLst>
              <a:gd name="adj" fmla="val 4828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  <a:effectLst>
            <a:outerShdw sx="100000" sy="100000" kx="0" ky="0" algn="bl" rotWithShape="0" blurRad="152400" dist="50800" dir="5400000">
              <a:srgbClr val="241F1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2331720"/>
            <a:ext cx="603504" cy="603504"/>
          </a:xfrm>
          <a:prstGeom prst="ellipse">
            <a:avLst/>
          </a:prstGeom>
          <a:solidFill>
            <a:srgbClr val="FBEAE7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3317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🕳️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2752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Anggaran gelap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02752" y="35204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Estimasi biaya perbaikan tidak transparan dan rawan markup.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Masalahnya bukan lubangnya — </a:t>
            </a:r>
            <a:pPr indent="0" marL="0">
              <a:buNone/>
            </a:pPr>
            <a:r>
              <a:rPr lang="en-US" sz="1900" b="1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tapi apa yang terjadi setelah warga melapor.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66928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JalanKita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— PELUANG PASAR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Pasar sebesar jaringan jalan Indonesia.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2860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540rb+ km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66928" y="3566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panjang jalan yang harus dipelihara di Indonesia.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144768" y="22860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Rp puluhan 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144768" y="3566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anggaran pemeliharaan jalan per tahun (pusat + daerah).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Setiap rupiah yang salah prioritas adalah </a:t>
            </a:r>
            <a:pPr indent="0" marL="0">
              <a:buNone/>
            </a:pPr>
            <a:r>
              <a:rPr lang="en-US" sz="1900" b="1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 yang dibiarkan rusak.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66928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JalanKita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— SOLUSI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Warga jadi sensor. AI jadi surveyor.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377440"/>
            <a:ext cx="1947672" cy="2286000"/>
          </a:xfrm>
          <a:prstGeom prst="roundRect">
            <a:avLst>
              <a:gd name="adj" fmla="val 5634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560320"/>
            <a:ext cx="1947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3154680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3703320"/>
            <a:ext cx="1728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Warga memotret jalan rusak — sekali klik.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96312" y="2377440"/>
            <a:ext cx="32918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701A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43784" y="2377440"/>
            <a:ext cx="1947672" cy="2286000"/>
          </a:xfrm>
          <a:prstGeom prst="roundRect">
            <a:avLst>
              <a:gd name="adj" fmla="val 5634"/>
            </a:avLst>
          </a:prstGeom>
          <a:solidFill>
            <a:srgbClr val="241F18"/>
          </a:solidFill>
          <a:ln w="12700">
            <a:solidFill>
              <a:srgbClr val="241F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3784" y="2560320"/>
            <a:ext cx="1947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35224" y="3154680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Computer Vision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53512" y="3703320"/>
            <a:ext cx="1728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BE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Deteksi jenis, keparahan &amp; dimensi.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377440"/>
            <a:ext cx="32918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701A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20640" y="2377440"/>
            <a:ext cx="1947672" cy="2286000"/>
          </a:xfrm>
          <a:prstGeom prst="roundRect">
            <a:avLst>
              <a:gd name="adj" fmla="val 5634"/>
            </a:avLst>
          </a:prstGeom>
          <a:solidFill>
            <a:srgbClr val="241F18"/>
          </a:solidFill>
          <a:ln w="12700">
            <a:solidFill>
              <a:srgbClr val="241F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560320"/>
            <a:ext cx="1947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12080" y="3154680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LLM susun RAB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0368" y="3703320"/>
            <a:ext cx="1728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BE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Estimasi anggaran otomatis &amp; transparan.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50024" y="2377440"/>
            <a:ext cx="32918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701A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97496" y="2377440"/>
            <a:ext cx="1947672" cy="2286000"/>
          </a:xfrm>
          <a:prstGeom prst="roundRect">
            <a:avLst>
              <a:gd name="adj" fmla="val 5634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7496" y="2560320"/>
            <a:ext cx="1947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88936" y="3154680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Feed publik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07224" y="3703320"/>
            <a:ext cx="1728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Skor prioritas + pelacakan SLA.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0" y="2377440"/>
            <a:ext cx="32918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701A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74352" y="2377440"/>
            <a:ext cx="1947672" cy="2286000"/>
          </a:xfrm>
          <a:prstGeom prst="roundRect">
            <a:avLst>
              <a:gd name="adj" fmla="val 5634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74352" y="2560320"/>
            <a:ext cx="1947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765792" y="3154680"/>
            <a:ext cx="1764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Ditindaklanjuti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080" y="3703320"/>
            <a:ext cx="1728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Dinas PU &amp; mitra CSR.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Cukup satu foto. </a:t>
            </a:r>
            <a:pPr indent="0" marL="0">
              <a:buNone/>
            </a:pPr>
            <a:r>
              <a:rPr lang="en-US" sz="1900" b="1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yang menilai dan menghitung.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66928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JalanKita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— MVP (SUDAH BERJALAN)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Produk nyata, bukan konsep.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4023360"/>
          </a:xfrm>
          <a:prstGeom prst="roundRect">
            <a:avLst>
              <a:gd name="adj" fmla="val 2727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  <a:effectLst>
            <a:outerShdw sx="100000" sy="100000" kx="0" ky="0" algn="bl" rotWithShape="0" blurRad="203200" dist="63500" dir="5400000">
              <a:srgbClr val="241F1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11064240" cy="457200"/>
          </a:xfrm>
          <a:prstGeom prst="rect">
            <a:avLst/>
          </a:prstGeom>
          <a:solidFill>
            <a:srgbClr val="EFE8DD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947672"/>
            <a:ext cx="137160" cy="137160"/>
          </a:xfrm>
          <a:prstGeom prst="ellipse">
            <a:avLst/>
          </a:prstGeom>
          <a:solidFill>
            <a:srgbClr val="E0897F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47672"/>
            <a:ext cx="137160" cy="137160"/>
          </a:xfrm>
          <a:prstGeom prst="ellipse">
            <a:avLst/>
          </a:prstGeom>
          <a:solidFill>
            <a:srgbClr val="E6C06A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947672"/>
            <a:ext cx="137160" cy="137160"/>
          </a:xfrm>
          <a:prstGeom prst="ellipse">
            <a:avLst/>
          </a:prstGeom>
          <a:solidFill>
            <a:srgbClr val="86B796"/>
          </a:solidFill>
          <a:ln/>
        </p:spPr>
      </p:sp>
      <p:sp>
        <p:nvSpPr>
          <p:cNvPr id="9" name="Text 7"/>
          <p:cNvSpPr/>
          <p:nvPr/>
        </p:nvSpPr>
        <p:spPr>
          <a:xfrm>
            <a:off x="1755648" y="1856232"/>
            <a:ext cx="36576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jalankita.app / feed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8408" y="2560320"/>
            <a:ext cx="10241280" cy="2926080"/>
          </a:xfrm>
          <a:prstGeom prst="roundRect">
            <a:avLst>
              <a:gd name="adj" fmla="val 3125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RPT-001 · 15 Jun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52728" y="29809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Jl. Kaliurang KM 12, Sleman, DIY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52728" y="3429000"/>
            <a:ext cx="274320" cy="274320"/>
          </a:xfrm>
          <a:prstGeom prst="ellipse">
            <a:avLst/>
          </a:prstGeom>
          <a:solidFill>
            <a:srgbClr val="B5701A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728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34381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Budi Santoso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90888" y="276148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 w="12700">
            <a:solidFill>
              <a:srgbClr val="E7C3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0888" y="276148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3A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PRIORITAS PUBLIK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848088" y="316382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BEAE7"/>
          </a:solidFill>
          <a:ln w="12700">
            <a:solidFill>
              <a:srgbClr val="E7C3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48088" y="316382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🚦 Kritis · 100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52728" y="38862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TIPE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52728" y="410565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Lubang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75888" y="38862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TINGKAT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75888" y="410565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Berat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99048" y="38862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DIMENSI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99048" y="410565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1.2×0.8×0.15 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22208" y="38862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22208" y="410565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92%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52728" y="4572000"/>
            <a:ext cx="9692640" cy="457200"/>
          </a:xfrm>
          <a:prstGeom prst="roundRect">
            <a:avLst>
              <a:gd name="adj" fmla="val 16000"/>
            </a:avLst>
          </a:prstGeom>
          <a:solidFill>
            <a:srgbClr val="F6F0E7"/>
          </a:solidFill>
          <a:ln w="12700">
            <a:solidFill>
              <a:srgbClr val="DBC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5608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Estimasi Anggaran Perbaikan (AI)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33688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Rp 2.200.000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52728" y="5102352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❤️ 134 dukungan      </a:t>
            </a:r>
            <a:pPr indent="0" marL="0">
              <a:buNone/>
            </a:pPr>
            <a:r>
              <a:rPr lang="en-US" sz="1200" b="1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💬 8 komentar      </a:t>
            </a:r>
            <a:pPr indent="0" marL="0">
              <a:buNone/>
            </a:pPr>
            <a:r>
              <a:rPr lang="en-US" sz="1200" b="1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📋 3 update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Live web app: </a:t>
            </a:r>
            <a:pPr indent="0" marL="0">
              <a:buNone/>
            </a:pPr>
            <a:r>
              <a:rPr lang="en-US" sz="1600" b="1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deteksi AI · estimasi RAB · feed sosial · dashboard analitik.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6928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JalanKita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— DIFERENSIASI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Yang lain berhenti di kotak masuk.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920240"/>
                <a:gridCol w="192024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8F8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Aplikasi</a:t>
                      </a:r>
                      <a:endParaRPr lang="en-US" sz="12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8F8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Lapor foto + lokasi</a:t>
                      </a:r>
                      <a:endParaRPr lang="en-US" sz="12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8F8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Penilaian AI otomatis</a:t>
                      </a:r>
                      <a:endParaRPr lang="en-US" sz="12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8F8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Estimasi biaya transparan</a:t>
                      </a:r>
                      <a:endParaRPr lang="en-US" sz="12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8F8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Lapisan sosial &amp; prioritas</a:t>
                      </a:r>
                      <a:endParaRPr lang="en-US" sz="12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1F1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JAKI / Qlue (Jakarta)</a:t>
                      </a:r>
                      <a:endParaRPr lang="en-US" sz="13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F7A5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9A5E1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±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1F1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SP4N-LAPOR! (nasional)</a:t>
                      </a:r>
                      <a:endParaRPr lang="en-US" sz="13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F7A5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1F1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Jalan Cantik (Jateng)</a:t>
                      </a:r>
                      <a:endParaRPr lang="en-US" sz="13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F7A5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1F1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Jalan Kita / Bina Marga PUPR</a:t>
                      </a:r>
                      <a:endParaRPr lang="en-US" sz="13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F7A5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2E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✕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1F1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🛣️ JalanKita (AI)</a:t>
                      </a:r>
                      <a:endParaRPr lang="en-US" sz="13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F7A5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F7A5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F7A5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F7A52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✓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Kami otomasi </a:t>
            </a:r>
            <a:pPr indent="0" marL="0">
              <a:buNone/>
            </a:pPr>
            <a:r>
              <a:rPr lang="en-US" sz="1900" b="1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penilaian teknis + anggaran</a:t>
            </a:r>
            <a:pPr indent="0" marL="0">
              <a:buNone/>
            </a:pPr>
            <a:r>
              <a:rPr lang="en-US" sz="19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— mengubah pengaduan jadi keputusan siap eksekusi.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66928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JalanKita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— PELANGGAN &amp; MODEL BISNIS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Tiga pihak, satu platform.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474720" cy="2331720"/>
          </a:xfrm>
          <a:prstGeom prst="roundRect">
            <a:avLst>
              <a:gd name="adj" fmla="val 5490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  <a:effectLst>
            <a:outerShdw sx="100000" sy="100000" kx="0" ky="0" algn="bl" rotWithShape="0" blurRad="152400" dist="50800" dir="5400000">
              <a:srgbClr val="241F1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286000"/>
            <a:ext cx="603504" cy="603504"/>
          </a:xfrm>
          <a:prstGeom prst="ellipse">
            <a:avLst/>
          </a:prstGeom>
          <a:solidFill>
            <a:srgbClr val="FBF1E2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2860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🧑‍🤝‍🧑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9536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Warga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45643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Sensor di lapangan. Melapor, mendukung, mengawasi — gratis.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88536" y="1965960"/>
            <a:ext cx="3474720" cy="2331720"/>
          </a:xfrm>
          <a:prstGeom prst="roundRect">
            <a:avLst>
              <a:gd name="adj" fmla="val 5490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  <a:effectLst>
            <a:outerShdw sx="100000" sy="100000" kx="0" ky="0" algn="bl" rotWithShape="0" blurRad="152400" dist="50800" dir="5400000">
              <a:srgbClr val="241F1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2286000"/>
            <a:ext cx="603504" cy="603504"/>
          </a:xfrm>
          <a:prstGeom prst="ellipse">
            <a:avLst/>
          </a:prstGeom>
          <a:solidFill>
            <a:srgbClr val="FBF1E2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2860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81144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Dinas PU / Pemda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81144" y="345643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Pelaksana. Berlangganan dashboard analitik &amp; prioritas.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10144" y="1965960"/>
            <a:ext cx="3474720" cy="2331720"/>
          </a:xfrm>
          <a:prstGeom prst="roundRect">
            <a:avLst>
              <a:gd name="adj" fmla="val 5490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  <a:effectLst>
            <a:outerShdw sx="100000" sy="100000" kx="0" ky="0" algn="bl" rotWithShape="0" blurRad="152400" dist="50800" dir="5400000">
              <a:srgbClr val="241F1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2286000"/>
            <a:ext cx="603504" cy="603504"/>
          </a:xfrm>
          <a:prstGeom prst="ellipse">
            <a:avLst/>
          </a:prstGeom>
          <a:solidFill>
            <a:srgbClr val="FBF1E2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2860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2752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Mitra CSR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02752" y="345643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Pendana. Fee penyaluran dana perbaikan ke titik prioritas.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4617720"/>
            <a:ext cx="2948940" cy="502920"/>
          </a:xfrm>
          <a:prstGeom prst="roundRect">
            <a:avLst>
              <a:gd name="adj" fmla="val 49091"/>
            </a:avLst>
          </a:prstGeom>
          <a:solidFill>
            <a:srgbClr val="241F1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17720"/>
            <a:ext cx="29489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7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💼  Lisensi B2G dashboard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90188" y="4617720"/>
            <a:ext cx="3159252" cy="502920"/>
          </a:xfrm>
          <a:prstGeom prst="roundRect">
            <a:avLst>
              <a:gd name="adj" fmla="val 49091"/>
            </a:avLst>
          </a:prstGeom>
          <a:solidFill>
            <a:srgbClr val="241F18"/>
          </a:solidFill>
          <a:ln/>
        </p:spPr>
      </p:sp>
      <p:sp>
        <p:nvSpPr>
          <p:cNvPr id="22" name="Text 20"/>
          <p:cNvSpPr/>
          <p:nvPr/>
        </p:nvSpPr>
        <p:spPr>
          <a:xfrm>
            <a:off x="3790188" y="4617720"/>
            <a:ext cx="31592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7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🤝  Fee CSR penyaluran dana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3760" y="4617720"/>
            <a:ext cx="2948940" cy="502920"/>
          </a:xfrm>
          <a:prstGeom prst="roundRect">
            <a:avLst>
              <a:gd name="adj" fmla="val 49091"/>
            </a:avLst>
          </a:prstGeom>
          <a:solidFill>
            <a:srgbClr val="241F18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4617720"/>
            <a:ext cx="29489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7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📊  Layanan data anggaran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Mereka bayar karena kami </a:t>
            </a:r>
            <a:pPr indent="0" marL="0">
              <a:buNone/>
            </a:pPr>
            <a:r>
              <a:rPr lang="en-US" sz="1900" b="1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mempercepat penanganan, menekan markup, dan memberi transparansi.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JalanKita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5E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 — TRAKSI &amp; LANGKAH BERIKUTNYA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Sudah jalan. Siap di-scale.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94960" cy="3749040"/>
          </a:xfrm>
          <a:prstGeom prst="roundRect">
            <a:avLst>
              <a:gd name="adj" fmla="val 3415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86000"/>
            <a:ext cx="256032" cy="256032"/>
          </a:xfrm>
          <a:prstGeom prst="ellipse">
            <a:avLst/>
          </a:prstGeom>
          <a:solidFill>
            <a:srgbClr val="3F7A52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SAAT INI — MVP LIVE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78892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Deteksi AI (computer vision) + estimasi RAB otomatis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Feed komunitas sosial: dukungan, komentar, follow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 analitik + skor prioritas + SLA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akun &amp; peran (warga / admin Dinas PU)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Validasi awal: [X] pengguna diuji (lihat Portofolio B)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36208" y="1965960"/>
            <a:ext cx="5394960" cy="3749040"/>
          </a:xfrm>
          <a:prstGeom prst="roundRect">
            <a:avLst>
              <a:gd name="adj" fmla="val 3415"/>
            </a:avLst>
          </a:prstGeom>
          <a:solidFill>
            <a:srgbClr val="FFFEFB"/>
          </a:solidFill>
          <a:ln w="12700">
            <a:solidFill>
              <a:srgbClr val="E7DF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1968" y="2286000"/>
            <a:ext cx="256032" cy="256032"/>
          </a:xfrm>
          <a:prstGeom prst="ellipse">
            <a:avLst/>
          </a:prstGeom>
          <a:solidFill>
            <a:srgbClr val="B5701A"/>
          </a:solidFill>
          <a:ln/>
        </p:spPr>
      </p:sp>
      <p:sp>
        <p:nvSpPr>
          <p:cNvPr id="10" name="Text 8"/>
          <p:cNvSpPr/>
          <p:nvPr/>
        </p:nvSpPr>
        <p:spPr>
          <a:xfrm>
            <a:off x="6967728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BERIKUTNYA — 6–12 BULAN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01968" y="278892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Pilot bersama satu Dinas PU / pemda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 CV di-fine-tune khusus jalan Indonesia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Versi mobile / PWA untuk warga lapangan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Integrasi dengan sistem anggaran pemerintah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›"/>
            </a:pPr>
            <a:r>
              <a:rPr lang="en-US" sz="1500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Penajaman posisi sebagai lapisan AI untuk kanal yang ada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JalanKita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8F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2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AJAK BERGABUNG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28016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BF7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Mari benahi jalan Indonesia, bersama.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66928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2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Kami mencari mitra untuk mendanai pilot pertama.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420624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FBF7F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206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 QR 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41F1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 / repo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42519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BE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🔗 Demo: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BF7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[tautan demo Anda]
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BE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💻 GitHub: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BF7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[tautan repo]
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BE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✉️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BF7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[email Anda]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AB9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🛣️ JalanKita — Dari foto, menjadi perbaikan.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1" name="Shape 9"/>
          <p:cNvSpPr/>
          <p:nvPr/>
        </p:nvSpPr>
        <p:spPr>
          <a:xfrm>
            <a:off x="1810512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2304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3" name="Shape 11"/>
          <p:cNvSpPr/>
          <p:nvPr/>
        </p:nvSpPr>
        <p:spPr>
          <a:xfrm>
            <a:off x="3054096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75888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6" name="Shape 14"/>
          <p:cNvSpPr/>
          <p:nvPr/>
        </p:nvSpPr>
        <p:spPr>
          <a:xfrm>
            <a:off x="4919472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7" name="Shape 15"/>
          <p:cNvSpPr/>
          <p:nvPr/>
        </p:nvSpPr>
        <p:spPr>
          <a:xfrm>
            <a:off x="5541264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8" name="Shape 16"/>
          <p:cNvSpPr/>
          <p:nvPr/>
        </p:nvSpPr>
        <p:spPr>
          <a:xfrm>
            <a:off x="6163056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19" name="Shape 17"/>
          <p:cNvSpPr/>
          <p:nvPr/>
        </p:nvSpPr>
        <p:spPr>
          <a:xfrm>
            <a:off x="6784848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0" name="Shape 18"/>
          <p:cNvSpPr/>
          <p:nvPr/>
        </p:nvSpPr>
        <p:spPr>
          <a:xfrm>
            <a:off x="7406640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1" name="Shape 19"/>
          <p:cNvSpPr/>
          <p:nvPr/>
        </p:nvSpPr>
        <p:spPr>
          <a:xfrm>
            <a:off x="8028432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2" name="Shape 20"/>
          <p:cNvSpPr/>
          <p:nvPr/>
        </p:nvSpPr>
        <p:spPr>
          <a:xfrm>
            <a:off x="8650224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3" name="Shape 21"/>
          <p:cNvSpPr/>
          <p:nvPr/>
        </p:nvSpPr>
        <p:spPr>
          <a:xfrm>
            <a:off x="9272016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4" name="Shape 22"/>
          <p:cNvSpPr/>
          <p:nvPr/>
        </p:nvSpPr>
        <p:spPr>
          <a:xfrm>
            <a:off x="9893808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0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37392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759184" y="6711696"/>
            <a:ext cx="365760" cy="91440"/>
          </a:xfrm>
          <a:prstGeom prst="rect">
            <a:avLst/>
          </a:prstGeom>
          <a:solidFill>
            <a:srgbClr val="B570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2026-06-20T15:27:00Z</dcterms:created>
  <dcterms:modified xsi:type="dcterms:W3CDTF">2026-06-20T15:27:00Z</dcterms:modified>
</cp:coreProperties>
</file>